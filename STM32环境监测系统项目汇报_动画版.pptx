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3931920" cy="457200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A7FF"/>
                </a:solidFill>
                <a:latin typeface="Calibri"/>
              </a:rPr>
              <a:t>研究生项目汇报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基于 STM32F103C8T6 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 i="0">
                <a:solidFill>
                  <a:srgbClr val="2EA7FF"/>
                </a:solidFill>
                <a:latin typeface="Calibri"/>
              </a:rPr>
              <a:t>多传感器环境监测系统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设计与实现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9999B0"/>
                </a:solidFill>
                <a:latin typeface="Calibri"/>
              </a:rPr>
              <a:t>汇报人：[姓名占位]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666680"/>
                </a:solidFill>
                <a:latin typeface="Calibri"/>
              </a:rPr>
              <a:t>指导教师：[姓名占位]  |  [学院]  |  [日期]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6217920"/>
            <a:ext cx="4846320" cy="457200"/>
          </a:xfrm>
          <a:prstGeom prst="rect">
            <a:avLst/>
          </a:prstGeom>
          <a:solidFill>
            <a:srgbClr val="030014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6217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9381FF"/>
                </a:solidFill>
                <a:latin typeface="Calibri"/>
              </a:rPr>
              <a:t>ARM Cortex-M3 | 72MHz | 多协议集成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00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001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002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03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04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05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0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07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008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009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010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011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汇报大纲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A7FF"/>
                </a:solidFill>
                <a:latin typeface="Calibri"/>
              </a:rPr>
              <a:t>项目背景与目标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99B0"/>
                </a:solidFill>
                <a:latin typeface="Calibri"/>
              </a:rPr>
              <a:t>环境监测需求 + 系统定位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554480"/>
            <a:ext cx="640080" cy="640080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9381FF"/>
                </a:solidFill>
                <a:latin typeface="Calibri"/>
              </a:rPr>
              <a:t>系统架构设计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99B0"/>
                </a:solidFill>
                <a:latin typeface="Calibri"/>
              </a:rPr>
              <a:t>硬件架构 + 软件分层 + 数据流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801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554480"/>
            <a:ext cx="640080" cy="640080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3DDC4"/>
                </a:solidFill>
                <a:latin typeface="Calibri"/>
              </a:rPr>
              <a:t>关键实现细节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97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99B0"/>
                </a:solidFill>
                <a:latin typeface="Calibri"/>
              </a:rPr>
              <a:t>固件设计 + 协议时序 + 上位机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6B9D"/>
                </a:solidFill>
                <a:latin typeface="Calibri"/>
              </a:rPr>
              <a:t>实验结果验证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99B0"/>
                </a:solidFill>
                <a:latin typeface="Calibri"/>
              </a:rPr>
              <a:t>116样本 + 三通道趋势 + 异常检测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6576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931920"/>
            <a:ext cx="640080" cy="64008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634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B84D"/>
                </a:solidFill>
                <a:latin typeface="Calibri"/>
              </a:rPr>
              <a:t>项目亮点与贡献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074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99B0"/>
                </a:solidFill>
                <a:latin typeface="Calibri"/>
              </a:rPr>
              <a:t>端到端独立完成 + 技术栈覆盖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6576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3931920"/>
            <a:ext cx="640080" cy="64008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6634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A7FF"/>
                </a:solidFill>
                <a:latin typeface="Calibri"/>
              </a:rPr>
              <a:t>总结与未来展望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074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99B0"/>
                </a:solidFill>
                <a:latin typeface="Calibri"/>
              </a:rPr>
              <a:t>项目总结 + 改进方向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13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135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136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137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138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39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140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141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42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143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144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145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146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147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148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149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150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151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152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153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154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155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156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157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158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159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6" fill="hold">
                      <p:stCondLst>
                        <p:cond delay="2600"/>
                      </p:stCondLst>
                      <p:childTnLst>
                        <p:animEffect transition="in" filter="fade">
                          <p:cBhvr>
                            <p:cTn id="1160" dur="50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>
                      <p:stCondLst>
                        <p:cond delay="2700"/>
                      </p:stCondLst>
                      <p:childTnLst>
                        <p:animEffect transition="in" filter="fade">
                          <p:cBhvr>
                            <p:cTn id="1161" dur="50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38" fill="hold">
                      <p:stCondLst>
                        <p:cond delay="2800"/>
                      </p:stCondLst>
                      <p:childTnLst>
                        <p:animEffect transition="in" filter="fade">
                          <p:cBhvr>
                            <p:cTn id="1162" dur="50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>
                      <p:stCondLst>
                        <p:cond delay="2900"/>
                      </p:stCondLst>
                      <p:childTnLst>
                        <p:animEffect transition="in" filter="fade">
                          <p:cBhvr>
                            <p:cTn id="1163" dur="50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40" fill="hold">
                      <p:stCondLst>
                        <p:cond delay="3000"/>
                      </p:stCondLst>
                      <p:childTnLst>
                        <p:animEffect transition="in" filter="fade">
                          <p:cBhvr>
                            <p:cTn id="1164" dur="50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>
                      <p:stCondLst>
                        <p:cond delay="3100"/>
                      </p:stCondLst>
                      <p:childTnLst>
                        <p:animEffect transition="in" filter="fade">
                          <p:cBhvr>
                            <p:cTn id="1165" dur="50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42" fill="hold">
                      <p:stCondLst>
                        <p:cond delay="3200"/>
                      </p:stCondLst>
                      <p:childTnLst>
                        <p:animEffect transition="in" filter="fade">
                          <p:cBhvr>
                            <p:cTn id="1166" dur="50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43" fill="hold">
                      <p:stCondLst>
                        <p:cond delay="3300"/>
                      </p:stCondLst>
                      <p:childTnLst>
                        <p:animEffect transition="in" filter="fade">
                          <p:cBhvr>
                            <p:cTn id="1167" dur="50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EA7FF"/>
                </a:solidFill>
                <a:latin typeface="Calibri"/>
              </a:rPr>
              <a:t>行业背景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物联网与智慧城市快速发展，环境监测需求日益增长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传统监测设备成本高、部署复杂，难以普及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3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嵌入式 + 传感器技术成熟，为低成本方案提供可能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7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Python 等开源工具链降低了数据分析门槛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3DDC4"/>
                </a:solidFill>
                <a:latin typeface="Calibri"/>
              </a:rPr>
              <a:t>项目目标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构建多传感器环境监测硬件平台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实现温湿度、光照三通道实时采集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完成从嵌入式到上位机的完整数据链路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验证系统稳定性与数据可靠性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188720"/>
            <a:ext cx="5029200" cy="493776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9381FF"/>
                </a:solidFill>
                <a:latin typeface="Calibri"/>
              </a:rPr>
              <a:t>系统定位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DDC4"/>
                </a:solidFill>
                <a:latin typeface="Calibri"/>
              </a:rPr>
              <a:t>MCU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STM32F103C8T6 (ARM Cortex-M3)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DDC4"/>
                </a:solidFill>
                <a:latin typeface="Calibri"/>
              </a:rPr>
              <a:t>主频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72 MHz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DDC4"/>
                </a:solidFill>
                <a:latin typeface="Calibri"/>
              </a:rPr>
              <a:t>存储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64KB Flash / 20KB 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520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DDC4"/>
                </a:solidFill>
                <a:latin typeface="Calibri"/>
              </a:rPr>
              <a:t>传感器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DHT11 + 5516光敏电阻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023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DDC4"/>
                </a:solidFill>
                <a:latin typeface="Calibri"/>
              </a:rPr>
              <a:t>显示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SSD1306 OLED (128×64)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DDC4"/>
                </a:solidFill>
                <a:latin typeface="Calibri"/>
              </a:rPr>
              <a:t>通信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USART3 @ 115200 baud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29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DDC4"/>
                </a:solidFill>
                <a:latin typeface="Calibri"/>
              </a:rPr>
              <a:t>上位机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Python + pyserial + matplotlib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168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169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170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171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17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73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174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175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76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177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178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179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180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181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182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183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184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185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186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187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188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189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190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191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192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193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6" fill="hold">
                      <p:stCondLst>
                        <p:cond delay="2600"/>
                      </p:stCondLst>
                      <p:childTnLst>
                        <p:animEffect transition="in" filter="fade">
                          <p:cBhvr>
                            <p:cTn id="1194" dur="50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>
                      <p:stCondLst>
                        <p:cond delay="2700"/>
                      </p:stCondLst>
                      <p:childTnLst>
                        <p:animEffect transition="in" filter="fade">
                          <p:cBhvr>
                            <p:cTn id="1195" dur="50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38" fill="hold">
                      <p:stCondLst>
                        <p:cond delay="2800"/>
                      </p:stCondLst>
                      <p:childTnLst>
                        <p:animEffect transition="in" filter="fade">
                          <p:cBhvr>
                            <p:cTn id="1196" dur="50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>
                      <p:stCondLst>
                        <p:cond delay="2900"/>
                      </p:stCondLst>
                      <p:childTnLst>
                        <p:animEffect transition="in" filter="fade">
                          <p:cBhvr>
                            <p:cTn id="1197" dur="50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系统总体架构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137160" cy="914400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3DDC4"/>
                </a:solidFill>
                <a:latin typeface="Calibri"/>
              </a:rPr>
              <a:t>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087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上位机软件 | 数据分析 | 可视化展示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86000"/>
            <a:ext cx="0" cy="18288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0" y="246888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468880"/>
            <a:ext cx="137160" cy="914400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9381FF"/>
                </a:solidFill>
                <a:latin typeface="Calibri"/>
              </a:rPr>
              <a:t>通信层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060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USART3 串口协议 | JSON帧解析 | CSV持久化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383280"/>
            <a:ext cx="0" cy="182880"/>
          </a:xfrm>
          <a:prstGeom prst="line">
            <a:avLst/>
          </a:prstGeom>
          <a:ln w="25400">
            <a:solidFill>
              <a:srgbClr val="938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356616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566160"/>
            <a:ext cx="137160" cy="91440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37033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EA7FF"/>
                </a:solidFill>
                <a:latin typeface="Calibri"/>
              </a:rPr>
              <a:t>固件层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033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主循环 | 传感器调度 | OLED刷新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4480560"/>
            <a:ext cx="0" cy="182880"/>
          </a:xfrm>
          <a:prstGeom prst="line">
            <a:avLst/>
          </a:prstGeom>
          <a:ln w="25400">
            <a:solidFill>
              <a:srgbClr val="2E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466344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663440"/>
            <a:ext cx="137160" cy="9144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4800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6B9D"/>
                </a:solidFill>
                <a:latin typeface="Calibri"/>
              </a:rPr>
              <a:t>硬件层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006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STM32F103 | DHT11 | 5516光敏 | SSD1306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29260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999B0"/>
                </a:solidFill>
                <a:latin typeface="Calibri"/>
              </a:rPr>
              <a:t>四层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999B0"/>
                </a:solidFill>
                <a:latin typeface="Calibri"/>
              </a:rPr>
              <a:t>体系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3DDC4"/>
                </a:solidFill>
                <a:latin typeface="Calibri"/>
              </a:rPr>
              <a:t>自底向上：硬件采集 → 固件处理 → 串口传输 → 上位机可视化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198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199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00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01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20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03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04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205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206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207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208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209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210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211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212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213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214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215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216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217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218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219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220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221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222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223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硬件设计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5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EA7FF"/>
                </a:solidFill>
                <a:latin typeface="Calibri"/>
              </a:rPr>
              <a:t>引脚与协议映射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5669280" cy="457200"/>
          </a:xfrm>
          <a:prstGeom prst="rect">
            <a:avLst/>
          </a:prstGeom>
          <a:solidFill>
            <a:srgbClr val="1A1535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DDC4"/>
                </a:solidFill>
                <a:latin typeface="Calibri"/>
              </a:rPr>
              <a:t>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DDC4"/>
                </a:solidFill>
                <a:latin typeface="Calibri"/>
              </a:rPr>
              <a:t>引脚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DDC4"/>
                </a:solidFill>
                <a:latin typeface="Calibri"/>
              </a:rPr>
              <a:t>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DDC4"/>
                </a:solidFill>
                <a:latin typeface="Calibri"/>
              </a:rPr>
              <a:t>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DHT11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单总线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温湿度采集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34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5516光敏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834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PB0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834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ADC1_CH8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834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光照强度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37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SSD1306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337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PB8/PB9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337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I2C1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337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OLED显示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840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USART3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840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PB10/PB11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840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UART 115200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3840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数据上传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343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343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PC13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343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GPIO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4343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状态指示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3DDC4"/>
                </a:solidFill>
                <a:latin typeface="Calibri"/>
              </a:rPr>
              <a:t>多协议集成：单总线 + ADC + I2C + UART</a:t>
            </a:r>
          </a:p>
        </p:txBody>
      </p:sp>
      <p:pic>
        <p:nvPicPr>
          <p:cNvPr id="71" name="Sys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029200" cy="384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2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225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26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27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228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29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30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231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232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233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234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235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236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237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238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239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240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241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242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243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244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245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246" dur="50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247" dur="50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248" dur="50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249" dur="50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36" fill="hold">
                      <p:stCondLst>
                        <p:cond delay="2600"/>
                      </p:stCondLst>
                      <p:childTnLst>
                        <p:animEffect transition="in" filter="fade">
                          <p:cBhvr>
                            <p:cTn id="1250" dur="50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>
                      <p:stCondLst>
                        <p:cond delay="2700"/>
                      </p:stCondLst>
                      <p:childTnLst>
                        <p:animEffect transition="in" filter="fade">
                          <p:cBhvr>
                            <p:cTn id="1251" dur="50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38" fill="hold">
                      <p:stCondLst>
                        <p:cond delay="2800"/>
                      </p:stCondLst>
                      <p:childTnLst>
                        <p:animEffect transition="in" filter="fade">
                          <p:cBhvr>
                            <p:cTn id="1252" dur="50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>
                      <p:stCondLst>
                        <p:cond delay="2900"/>
                      </p:stCondLst>
                      <p:childTnLst>
                        <p:animEffect transition="in" filter="fade">
                          <p:cBhvr>
                            <p:cTn id="1253" dur="50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40" fill="hold">
                      <p:stCondLst>
                        <p:cond delay="3000"/>
                      </p:stCondLst>
                      <p:childTnLst>
                        <p:animEffect transition="in" filter="fade">
                          <p:cBhvr>
                            <p:cTn id="1254" dur="500" fill="hold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>
                      <p:stCondLst>
                        <p:cond delay="3100"/>
                      </p:stCondLst>
                      <p:childTnLst>
                        <p:animEffect transition="in" filter="fade">
                          <p:cBhvr>
                            <p:cTn id="1255" dur="500" fill="hold"/>
                            <p:tgtEl>
                              <p:spTgt spid="7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软件分层架构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6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09728" cy="960120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3DDC4"/>
                </a:solidFill>
                <a:latin typeface="Calibri"/>
              </a:rPr>
              <a:t>应用层 (Application)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主循环调度 | 业务逻辑 | 数据显示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999B0"/>
                </a:solidFill>
                <a:latin typeface="Calibri"/>
              </a:rPr>
              <a:t>📁 main.c, oled_task()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109728" cy="960120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9381FF"/>
                </a:solidFill>
                <a:latin typeface="Calibri"/>
              </a:rPr>
              <a:t>驱动层 (Driver)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DHT11时序 | ADC读取 | OLED命令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999B0"/>
                </a:solidFill>
                <a:latin typeface="Calibri"/>
              </a:rPr>
              <a:t>📁 dht11.c, 5516.c, ssd1306.c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109728" cy="96012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A7FF"/>
                </a:solidFill>
                <a:latin typeface="Calibri"/>
              </a:rPr>
              <a:t>HAL层 (Hardware Abstraction)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GPIO控制 | ADC采集 | I2C通信 | UART传输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999B0"/>
                </a:solidFill>
                <a:latin typeface="Calibri"/>
              </a:rPr>
              <a:t>📁 stm32f1xx_hal_*.c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09160"/>
            <a:ext cx="109728" cy="9601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6B9D"/>
                </a:solidFill>
                <a:latin typeface="Calibri"/>
              </a:rPr>
              <a:t>硬件层 (Hardware)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STM32F103C8T6 + 外设寄存器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999B0"/>
                </a:solidFill>
                <a:latin typeface="Calibri"/>
              </a:rPr>
              <a:t>📁 ARM Cortex-M3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3DDC4"/>
                </a:solidFill>
                <a:latin typeface="Calibri"/>
              </a:rPr>
              <a:t>设计原则：分层解耦 | 接口清晰 | 易于维护与扩展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56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257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5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59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260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61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62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263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264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265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266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267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268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269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270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271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272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273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274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275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276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277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278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279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280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关键固件设计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A7FF"/>
                </a:solidFill>
                <a:latin typeface="Calibri"/>
              </a:rPr>
              <a:t>DHT11 微秒级时序控制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0A081A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212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3DDC4"/>
                </a:solidFill>
                <a:latin typeface="Consolas"/>
              </a:rPr>
              <a:t>// 起始信号：拉低 18ms
HAL_GPIO_WritePin(GPIOA, GPIO_PIN_0, 0);
HAL_Delay(18);
HAL_GPIO_WritePin(GPIOA, GPIO_PIN_0, 1);
delay_us(30);  // 等待 30μs
// 等待 DHT11 响应
while(HAL_GPIO_ReadPin(GPIOA, GPIO_PIN_0) == 1);
while(HAL_GPIO_ReadPin(GPIOA, GPIO_PIN_0) == 0);
while(HAL_GPIO_ReadPin(GPIOA, GPIO_PIN_0) == 1);
// 读取 40 位数据
for(int i=0; i&lt;40; i++) {
    while(HAL_GPIO_ReadPin(...) == 0);
    delay_us(28);
    if(HAL_GPIO_ReadPin(...) == 1)
        data[i] = 1;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9381FF"/>
                </a:solidFill>
                <a:latin typeface="Calibri"/>
              </a:rPr>
              <a:t>ADC 光照强度映射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212080" cy="2286000"/>
          </a:xfrm>
          <a:prstGeom prst="roundRect">
            <a:avLst>
              <a:gd name="adj" fmla="val 3000"/>
            </a:avLst>
          </a:prstGeom>
          <a:solidFill>
            <a:srgbClr val="0A081A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3DDC4"/>
                </a:solidFill>
                <a:latin typeface="Consolas"/>
              </a:rPr>
              <a:t>// 启动 ADC 采集
HAL_ADC_Start(&amp;hadc1);
HAL_ADC_PollForConversion(&amp;hadc1, 10);
uint16_t raw = HAL_ADC_GetValue(&amp;hadc1);
// 原始值 0-4095 → 光照百分比 0-100%
// 5516 光敏电阻：值越小 = 光照越强
uint8_t light = (uint16_t)((4095 - raw) * 100 / 4095);
// 数据组装
sprintf(buf, "V:%d,T:%d.%d,H:%d.%d,L:%d\r\n",
        raw, temp/10, temp%10, humi/10, humi%10, light);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3DDC4"/>
                </a:solidFill>
                <a:latin typeface="Calibri"/>
              </a:rPr>
              <a:t>主循环：轮询调度三通道采集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3000"/>
            </a:avLst>
          </a:prstGeom>
          <a:solidFill>
            <a:srgbClr val="0A081A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3DDC4"/>
                </a:solidFill>
                <a:latin typeface="Consolas"/>
              </a:rPr>
              <a:t>while (1) {
    DHT11_Read_Data(&amp;temperature, &amp;humidity);   // 读取温湿度 (~2s 周期)
    light = ADC_ReadLightPercent();              // 读取光照百分比
    OLED_ShowAll(temperature, humidity, light);  // OLED 刷新显示
    Serial_SendPacket(temperature, humidity, light);  // 串口上传数据
    HAL_Delay(2000);                            // 2秒采集周期
}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81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282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83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84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285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86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87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28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289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290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291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292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293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主程序流程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737360" cy="73152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A7FF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系统初始化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999B0"/>
                </a:solidFill>
                <a:latin typeface="Calibri"/>
              </a:rPr>
              <a:t>HAL / GPIO / ADC
I2C / UART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320040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1720" y="228600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2286000"/>
            <a:ext cx="1737360" cy="73152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9381FF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传感器就绪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38328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999B0"/>
                </a:solidFill>
                <a:latin typeface="Calibri"/>
              </a:rPr>
              <a:t>DHT11 上电
等待 ≥1s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320040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97680" y="228600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286000"/>
            <a:ext cx="1737360" cy="73152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3DDC4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循环采集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8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999B0"/>
                </a:solidFill>
                <a:latin typeface="Calibri"/>
              </a:rPr>
              <a:t>读 DHT11
读 ADC
组装数据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320040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3640" y="228600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286000"/>
            <a:ext cx="1737360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6B9D"/>
                </a:solidFill>
                <a:latin typeface="Calibr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OLED 刷新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38328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999B0"/>
                </a:solidFill>
                <a:latin typeface="Calibri"/>
              </a:rPr>
              <a:t>温度 | 湿度
光照百分比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01000" y="320040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0" y="228600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286000"/>
            <a:ext cx="173736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B84D"/>
                </a:solidFill>
                <a:latin typeface="Calibri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串口上传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38328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999B0"/>
                </a:solidFill>
                <a:latin typeface="Calibri"/>
              </a:rPr>
              <a:t>V/T/H/L 帧
115200 baud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66960" y="320040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95560" y="228600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95560" y="2286000"/>
            <a:ext cx="1737360" cy="73152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A7FF"/>
                </a:solidFill>
                <a:latin typeface="Calibri"/>
              </a:rPr>
              <a:t>Step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延时等待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38328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999B0"/>
                </a:solidFill>
                <a:latin typeface="Calibri"/>
              </a:rPr>
              <a:t>HAL_Delay
2000ms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16459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EA7FF"/>
                </a:solidFill>
                <a:latin typeface="Calibri"/>
              </a:rPr>
              <a:t>POWER-ON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4754880"/>
            <a:ext cx="4846320" cy="731520"/>
          </a:xfrm>
          <a:prstGeom prst="roundRect">
            <a:avLst>
              <a:gd name="adj" fmla="val 50000"/>
            </a:avLst>
          </a:prstGeom>
          <a:solidFill>
            <a:srgbClr val="030014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7548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3DDC4"/>
                </a:solidFill>
                <a:latin typeface="Calibri"/>
              </a:rPr>
              <a:t>⇠ 循环执行（每 2s 一轮） 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9999B0"/>
                </a:solidFill>
                <a:latin typeface="Calibri"/>
              </a:rPr>
              <a:t>顺序执行 + 轮询调度 | 2s 采集周期 | 上传与显示同步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9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295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96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97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298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99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300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301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302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303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304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305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306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307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308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309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310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311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312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313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314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315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316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317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318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319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6" fill="hold">
                      <p:stCondLst>
                        <p:cond delay="2600"/>
                      </p:stCondLst>
                      <p:childTnLst>
                        <p:animEffect transition="in" filter="fade">
                          <p:cBhvr>
                            <p:cTn id="1320" dur="50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>
                      <p:stCondLst>
                        <p:cond delay="2700"/>
                      </p:stCondLst>
                      <p:childTnLst>
                        <p:animEffect transition="in" filter="fade">
                          <p:cBhvr>
                            <p:cTn id="1321" dur="50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38" fill="hold">
                      <p:stCondLst>
                        <p:cond delay="2800"/>
                      </p:stCondLst>
                      <p:childTnLst>
                        <p:animEffect transition="in" filter="fade">
                          <p:cBhvr>
                            <p:cTn id="1322" dur="50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>
                      <p:stCondLst>
                        <p:cond delay="2900"/>
                      </p:stCondLst>
                      <p:childTnLst>
                        <p:animEffect transition="in" filter="fade">
                          <p:cBhvr>
                            <p:cTn id="1323" dur="50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40" fill="hold">
                      <p:stCondLst>
                        <p:cond delay="3000"/>
                      </p:stCondLst>
                      <p:childTnLst>
                        <p:animEffect transition="in" filter="fade">
                          <p:cBhvr>
                            <p:cTn id="1324" dur="50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>
                      <p:stCondLst>
                        <p:cond delay="3100"/>
                      </p:stCondLst>
                      <p:childTnLst>
                        <p:animEffect transition="in" filter="fade">
                          <p:cBhvr>
                            <p:cTn id="1325" dur="50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42" fill="hold">
                      <p:stCondLst>
                        <p:cond delay="3200"/>
                      </p:stCondLst>
                      <p:childTnLst>
                        <p:animEffect transition="in" filter="fade">
                          <p:cBhvr>
                            <p:cTn id="1326" dur="50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43" fill="hold">
                      <p:stCondLst>
                        <p:cond delay="3300"/>
                      </p:stCondLst>
                      <p:childTnLst>
                        <p:animEffect transition="in" filter="fade">
                          <p:cBhvr>
                            <p:cTn id="1327" dur="50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44" fill="hold">
                      <p:stCondLst>
                        <p:cond delay="3400"/>
                      </p:stCondLst>
                      <p:childTnLst>
                        <p:animEffect transition="in" filter="fade">
                          <p:cBhvr>
                            <p:cTn id="1328" dur="500" fill="hold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45" fill="hold">
                      <p:stCondLst>
                        <p:cond delay="3500"/>
                      </p:stCondLst>
                      <p:childTnLst>
                        <p:animEffect transition="in" filter="fade">
                          <p:cBhvr>
                            <p:cTn id="1329" dur="500" fill="hold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46" fill="hold">
                      <p:stCondLst>
                        <p:cond delay="3600"/>
                      </p:stCondLst>
                      <p:childTnLst>
                        <p:animEffect transition="in" filter="fade">
                          <p:cBhvr>
                            <p:cTn id="1330" dur="500" fill="hold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47" fill="hold">
                      <p:stCondLst>
                        <p:cond delay="3700"/>
                      </p:stCondLst>
                      <p:childTnLst>
                        <p:animEffect transition="in" filter="fade">
                          <p:cBhvr>
                            <p:cTn id="1331" dur="500" fill="hold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48" fill="hold">
                      <p:stCondLst>
                        <p:cond delay="3800"/>
                      </p:stCondLst>
                      <p:childTnLst>
                        <p:animEffect transition="in" filter="fade">
                          <p:cBhvr>
                            <p:cTn id="1332" dur="500" fill="hold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49" fill="hold">
                      <p:stCondLst>
                        <p:cond delay="3900"/>
                      </p:stCondLst>
                      <p:childTnLst>
                        <p:animEffect transition="in" filter="fade">
                          <p:cBhvr>
                            <p:cTn id="1333" dur="500" fill="hold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50" fill="hold">
                      <p:stCondLst>
                        <p:cond delay="4000"/>
                      </p:stCondLst>
                      <p:childTnLst>
                        <p:animEffect transition="in" filter="fade">
                          <p:cBhvr>
                            <p:cTn id="1334" dur="500" fill="hold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51" fill="hold">
                      <p:stCondLst>
                        <p:cond delay="4100"/>
                      </p:stCondLst>
                      <p:childTnLst>
                        <p:animEffect transition="in" filter="fade">
                          <p:cBhvr>
                            <p:cTn id="1335" dur="500" fill="hold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52" fill="hold">
                      <p:stCondLst>
                        <p:cond delay="4200"/>
                      </p:stCondLst>
                      <p:childTnLst>
                        <p:animEffect transition="in" filter="fade">
                          <p:cBhvr>
                            <p:cTn id="1336" dur="500" fill="hold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上位机与可视化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943600" cy="475488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3DDC4"/>
                </a:solidFill>
                <a:latin typeface="Calibri"/>
              </a:rPr>
              <a:t>实时三通道绘图窗口</a:t>
            </a:r>
          </a:p>
        </p:txBody>
      </p:sp>
      <p:pic>
        <p:nvPicPr>
          <p:cNvPr id="8" name="Picture 7" descr="monito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39496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77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6680"/>
                </a:solidFill>
                <a:latin typeface="Calibri"/>
              </a:rPr>
              <a:t>Python monitor.py | pyserial + matplotlib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188720"/>
            <a:ext cx="4754880" cy="105156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1188720"/>
            <a:ext cx="731520" cy="105156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188720"/>
            <a:ext cx="731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25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A7FF"/>
                </a:solidFill>
                <a:latin typeface="Calibri"/>
              </a:rPr>
              <a:t>串口接收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691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pyserial.Serial('COMx', 115200)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377440"/>
            <a:ext cx="4754880" cy="105156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2377440"/>
            <a:ext cx="731520" cy="1051560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377440"/>
            <a:ext cx="731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14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381FF"/>
                </a:solidFill>
                <a:latin typeface="Calibri"/>
              </a:rPr>
              <a:t>帧解析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80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正则提取 V/T/H/L 数值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566160"/>
            <a:ext cx="4754880" cy="105156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3566160"/>
            <a:ext cx="731520" cy="1051560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566160"/>
            <a:ext cx="731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703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3DDC4"/>
                </a:solidFill>
                <a:latin typeface="Calibri"/>
              </a:rPr>
              <a:t>实时绘图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069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matplotlib FuncAnimation 滚动更新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754880"/>
            <a:ext cx="4754880" cy="105156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4754880"/>
            <a:ext cx="731520" cy="10515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754880"/>
            <a:ext cx="731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6B9D"/>
                </a:solidFill>
                <a:latin typeface="Calibri"/>
              </a:rPr>
              <a:t>CSV 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257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追加写入 sensor_data.csv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337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338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339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34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341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42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343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344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345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346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347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348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349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350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351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352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353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354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355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356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357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358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359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360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361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362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6" fill="hold">
                      <p:stCondLst>
                        <p:cond delay="2600"/>
                      </p:stCondLst>
                      <p:childTnLst>
                        <p:animEffect transition="in" filter="fade">
                          <p:cBhvr>
                            <p:cTn id="1363" dur="50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>
                      <p:stCondLst>
                        <p:cond delay="2700"/>
                      </p:stCondLst>
                      <p:childTnLst>
                        <p:animEffect transition="in" filter="fade">
                          <p:cBhvr>
                            <p:cTn id="1364" dur="50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端到端数据流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737360" cy="1645920"/>
          </a:xfrm>
          <a:prstGeom prst="roundRect">
            <a:avLst>
              <a:gd name="adj" fmla="val 10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737360" cy="45720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传感器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DHT11
5516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65176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23160" y="1828800"/>
            <a:ext cx="1737360" cy="1645920"/>
          </a:xfrm>
          <a:prstGeom prst="roundRect">
            <a:avLst>
              <a:gd name="adj" fmla="val 10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1828800"/>
            <a:ext cx="1737360" cy="457200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MCU 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4688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STM32
ADC + GPIO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60520" y="265176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9120" y="1828800"/>
            <a:ext cx="1737360" cy="1645920"/>
          </a:xfrm>
          <a:prstGeom prst="roundRect">
            <a:avLst>
              <a:gd name="adj" fmla="val 10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828800"/>
            <a:ext cx="1737360" cy="457200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串口传输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4688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UART
115200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0" y="265176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55079" y="1828800"/>
            <a:ext cx="1737360" cy="1645920"/>
          </a:xfrm>
          <a:prstGeom prst="roundRect">
            <a:avLst>
              <a:gd name="adj" fmla="val 10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1828800"/>
            <a:ext cx="1737360" cy="4572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上位机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19" y="24688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Python
解析+绘图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92439" y="265176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21040" y="1828800"/>
            <a:ext cx="1737360" cy="1645920"/>
          </a:xfrm>
          <a:prstGeom prst="roundRect">
            <a:avLst>
              <a:gd name="adj" fmla="val 10000"/>
            </a:avLst>
          </a:prstGeom>
          <a:solidFill>
            <a:srgbClr val="0D0B1E"/>
          </a:solidFill>
          <a:ln w="952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828800"/>
            <a:ext cx="1737360" cy="4572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持久化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4688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CSV
sensor_data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0" y="2651760"/>
            <a:ext cx="228600" cy="0"/>
          </a:xfrm>
          <a:prstGeom prst="line">
            <a:avLst/>
          </a:prstGeom>
          <a:ln w="25400">
            <a:solidFill>
              <a:srgbClr val="13D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87000" y="1828800"/>
            <a:ext cx="1737360" cy="1645920"/>
          </a:xfrm>
          <a:prstGeom prst="roundRect">
            <a:avLst>
              <a:gd name="adj" fmla="val 10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87000" y="1828800"/>
            <a:ext cx="1737360" cy="45720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24688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统计
可视化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A7FF"/>
                </a:solidFill>
                <a:latin typeface="Calibri"/>
              </a:rPr>
              <a:t>数据帧格式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3000"/>
            </a:avLst>
          </a:prstGeom>
          <a:solidFill>
            <a:srgbClr val="0A081A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3DDC4"/>
                </a:solidFill>
                <a:latin typeface="Consolas"/>
              </a:rPr>
              <a:t>V:{raw_adc},T:{temp_d}.{temp_f},H:{humi_d}.{humi_f},L:{light_pct}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示例: V:2048,T:28.5,H:47.2,L:62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381FF"/>
                </a:solidFill>
                <a:latin typeface="Consolas"/>
              </a:rPr>
              <a:t>CSV 字段: timestamp, V, T, H, L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12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013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014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15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16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17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18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19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0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021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022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023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024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025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026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027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028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029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030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031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032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033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034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035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036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037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6" fill="hold">
                      <p:stCondLst>
                        <p:cond delay="2600"/>
                      </p:stCondLst>
                      <p:childTnLst>
                        <p:animEffect transition="in" filter="fade">
                          <p:cBhvr>
                            <p:cTn id="1038" dur="50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>
                      <p:stCondLst>
                        <p:cond delay="2700"/>
                      </p:stCondLst>
                      <p:childTnLst>
                        <p:animEffect transition="in" filter="fade">
                          <p:cBhvr>
                            <p:cTn id="1039" dur="50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38" fill="hold">
                      <p:stCondLst>
                        <p:cond delay="2800"/>
                      </p:stCondLst>
                      <p:childTnLst>
                        <p:animEffect transition="in" filter="fade">
                          <p:cBhvr>
                            <p:cTn id="1040" dur="50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>
                      <p:stCondLst>
                        <p:cond delay="2900"/>
                      </p:stCondLst>
                      <p:childTnLst>
                        <p:animEffect transition="in" filter="fade">
                          <p:cBhvr>
                            <p:cTn id="1041" dur="50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40" fill="hold">
                      <p:stCondLst>
                        <p:cond delay="3000"/>
                      </p:stCondLst>
                      <p:childTnLst>
                        <p:animEffect transition="in" filter="fade">
                          <p:cBhvr>
                            <p:cTn id="1042" dur="50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>
                      <p:stCondLst>
                        <p:cond delay="3100"/>
                      </p:stCondLst>
                      <p:childTnLst>
                        <p:animEffect transition="in" filter="fade">
                          <p:cBhvr>
                            <p:cTn id="1043" dur="50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42" fill="hold">
                      <p:stCondLst>
                        <p:cond delay="3200"/>
                      </p:stCondLst>
                      <p:childTnLst>
                        <p:animEffect transition="in" filter="fade">
                          <p:cBhvr>
                            <p:cTn id="1044" dur="50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43" fill="hold">
                      <p:stCondLst>
                        <p:cond delay="3300"/>
                      </p:stCondLst>
                      <p:childTnLst>
                        <p:animEffect transition="in" filter="fade">
                          <p:cBhvr>
                            <p:cTn id="1045" dur="50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44" fill="hold">
                      <p:stCondLst>
                        <p:cond delay="3400"/>
                      </p:stCondLst>
                      <p:childTnLst>
                        <p:animEffect transition="in" filter="fade">
                          <p:cBhvr>
                            <p:cTn id="1046" dur="500" fill="hold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45" fill="hold">
                      <p:stCondLst>
                        <p:cond delay="3500"/>
                      </p:stCondLst>
                      <p:childTnLst>
                        <p:animEffect transition="in" filter="fade">
                          <p:cBhvr>
                            <p:cTn id="1047" dur="500" fill="hold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46" fill="hold">
                      <p:stCondLst>
                        <p:cond delay="3600"/>
                      </p:stCondLst>
                      <p:childTnLst>
                        <p:animEffect transition="in" filter="fade">
                          <p:cBhvr>
                            <p:cTn id="1048" dur="500" fill="hold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47" fill="hold">
                      <p:stCondLst>
                        <p:cond delay="3700"/>
                      </p:stCondLst>
                      <p:childTnLst>
                        <p:animEffect transition="in" filter="fade">
                          <p:cBhvr>
                            <p:cTn id="1049" dur="500" fill="hold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实验结果与分析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11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EA7FF"/>
                </a:solidFill>
                <a:latin typeface="Calibri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999B0"/>
                </a:solidFill>
                <a:latin typeface="Calibri"/>
              </a:rPr>
              <a:t>有效样本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80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3DDC4"/>
                </a:solidFill>
                <a:latin typeface="Calibri"/>
              </a:rPr>
              <a:t>28.5℃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999B0"/>
                </a:solidFill>
                <a:latin typeface="Calibri"/>
              </a:rPr>
              <a:t>平均温度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9381FF"/>
                </a:solidFill>
                <a:latin typeface="Calibri"/>
              </a:rPr>
              <a:t>47.2%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999B0"/>
                </a:solidFill>
                <a:latin typeface="Calibri"/>
              </a:rPr>
              <a:t>平均湿度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18872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280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6B9D"/>
                </a:solidFill>
                <a:latin typeface="Calibri"/>
              </a:rPr>
              <a:t>79%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999B0"/>
                </a:solidFill>
                <a:latin typeface="Calibri"/>
              </a:rPr>
              <a:t>光照峰值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7315200" cy="320040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3DDC4"/>
                </a:solidFill>
                <a:latin typeface="Calibri"/>
              </a:rPr>
              <a:t>三通道趋势曲线（5个采集片段）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2651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A7FF"/>
                </a:solidFill>
                <a:latin typeface="Calibri"/>
              </a:rPr>
              <a:t>实验发现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32004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温湿度在采集期间保持稳定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3657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光照在 t=7 出现明显峰值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4114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三通道数据无明显串扰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572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串口传输无丢包现象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029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CSV 持久化完整可复现</a:t>
            </a:r>
          </a:p>
        </p:txBody>
      </p:sp>
      <p:pic>
        <p:nvPicPr>
          <p:cNvPr id="70" name="Trend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91840"/>
            <a:ext cx="6400800" cy="2501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50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051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052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53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54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55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5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57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058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059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060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061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062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063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064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065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066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067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068" dur="500" fill="hold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069" dur="500" fill="hold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070" dur="500" fill="hold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071" dur="500" fill="hold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072" dur="500" fill="hold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073" dur="500" fill="hold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074" dur="500" fill="hold"/>
                            <p:tgtEl>
                              <p:spTgt spid="7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硬件实物展示与实时监测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3DDC4"/>
                </a:solidFill>
                <a:latin typeface="Calibri"/>
              </a:rPr>
              <a:t>硬件实物</a:t>
            </a:r>
          </a:p>
        </p:txBody>
      </p:sp>
      <p:pic>
        <p:nvPicPr>
          <p:cNvPr id="8" name="Picture 7" descr="hardware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164592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3492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6680"/>
                </a:solidFill>
                <a:latin typeface="Calibri"/>
              </a:rPr>
              <a:t>STM32 + DHT11 + 5516 + SSD1306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9381FF"/>
                </a:solidFill>
                <a:latin typeface="Calibri"/>
              </a:rPr>
              <a:t>实时监测窗口</a:t>
            </a:r>
          </a:p>
        </p:txBody>
      </p:sp>
      <p:pic>
        <p:nvPicPr>
          <p:cNvPr id="12" name="Picture 11" descr="monitor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37360"/>
            <a:ext cx="4754880" cy="3474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5349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6680"/>
                </a:solidFill>
                <a:latin typeface="Calibri"/>
              </a:rPr>
              <a:t>Python monitor.py 三通道实时绘图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3DDC4"/>
                </a:solidFill>
                <a:latin typeface="Calibri"/>
              </a:rPr>
              <a:t>系统稳定运行 | 实时采集 | 可视化呈现 | 完整数据闭环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75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07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077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78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79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80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81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82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083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084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085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086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087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项目亮点与个人贡献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9728" cy="1920240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A7FF"/>
                </a:solidFill>
                <a:latin typeface="Calibri"/>
              </a:rPr>
              <a:t>端到端独立完成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从硬件搭建到数据分析全流程独立完成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109728" cy="1920240"/>
          </a:xfrm>
          <a:prstGeom prst="rect">
            <a:avLst/>
          </a:prstGeom>
          <a:solidFill>
            <a:srgbClr val="93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63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9381FF"/>
                </a:solidFill>
                <a:latin typeface="Calibri"/>
              </a:rPr>
              <a:t>多协议通信集成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单总线 + ADC + I2C + UART 四协议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109728" cy="1920240"/>
          </a:xfrm>
          <a:prstGeom prst="rect">
            <a:avLst/>
          </a:prstGeom>
          <a:solidFill>
            <a:srgbClr val="13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3DDC4"/>
                </a:solidFill>
                <a:latin typeface="Calibri"/>
              </a:rPr>
              <a:t>实时可视化监控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659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Python matplotlib 三通道实时绘图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109728" cy="192024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6B9D"/>
                </a:solidFill>
                <a:latin typeface="Calibri"/>
              </a:rPr>
              <a:t>完整数据闭环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采集→传输→存储→分析全链路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832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D0B1E"/>
          </a:solidFill>
          <a:ln w="952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383280"/>
            <a:ext cx="109728" cy="192024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57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B84D"/>
                </a:solidFill>
                <a:latin typeface="Calibri"/>
              </a:rPr>
              <a:t>模块化软件架构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1605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HAL/驱动/应用/通信四层解耦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030014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3DDC4"/>
                </a:solidFill>
                <a:latin typeface="Calibri"/>
              </a:rPr>
              <a:t>100% 个人独立完成  —  硬件 · 固件 · 上位机 · 数据分析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88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089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090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91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9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93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94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95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096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097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098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099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100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101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102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103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104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105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106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107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fill="hold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1108" dur="50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109" dur="50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>
                      <p:stCondLst>
                        <p:cond delay="2200"/>
                      </p:stCondLst>
                      <p:childTnLst>
                        <p:animEffect transition="in" filter="fade">
                          <p:cBhvr>
                            <p:cTn id="1110" dur="50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111" dur="50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" fill="hold">
                      <p:stCondLst>
                        <p:cond delay="2400"/>
                      </p:stCondLst>
                      <p:childTnLst>
                        <p:animEffect transition="in" filter="fade">
                          <p:cBhvr>
                            <p:cTn id="1112" dur="50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113" dur="50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2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solidFill>
            <a:srgbClr val="030014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EA7FF"/>
                </a:solidFill>
                <a:latin typeface="Calibri"/>
              </a:rPr>
              <a:t>14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9525">
            <a:solidFill>
              <a:srgbClr val="2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A7FF"/>
                </a:solidFill>
                <a:latin typeface="Calibri"/>
              </a:rPr>
              <a:t>项目总结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完成 STM32F103C8T6 多传感器监测系统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实现温湿度、光照三通道实时采集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构建嵌入式到上位机的完整数据链路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验证 116 组有效数据的稳定性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形成模块化四层软件架构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9525">
            <a:solidFill>
              <a:srgbClr val="93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9381FF"/>
                </a:solidFill>
                <a:latin typeface="Calibri"/>
              </a:rP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引入更多传感器（CO2、PM2.5）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集成 Wi-Fi/蓝牙实现物联网接入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构建云端数据平台与移动端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引入机器学习进行趋势预测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◆ 优化低功耗设计，支持电池运行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669280"/>
            <a:ext cx="5760720" cy="640080"/>
          </a:xfrm>
          <a:prstGeom prst="roundRect">
            <a:avLst>
              <a:gd name="adj" fmla="val 50000"/>
            </a:avLst>
          </a:prstGeom>
          <a:solidFill>
            <a:srgbClr val="030014"/>
          </a:solidFill>
          <a:ln w="9525">
            <a:solidFill>
              <a:srgbClr val="13D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56692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3DDC4"/>
                </a:solidFill>
                <a:latin typeface="Calibri"/>
              </a:rPr>
              <a:t>感谢聆听  |  欢迎提问与指导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11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115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116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117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" fill="hold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118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19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120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121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22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123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0" fill="hold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1124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1125" dur="5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1126" dur="5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1127" dur="5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fill="hold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1128" dur="50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1129" dur="50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1130" dur="5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1131" dur="50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1132" dur="5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1133" dur="5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